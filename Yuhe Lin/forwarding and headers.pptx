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9" r:id="rId4"/>
    <p:sldId id="264" r:id="rId5"/>
    <p:sldId id="257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88806-FDE1-4C3F-97C6-A58C771EA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E14DB6-9B4A-4142-AD2C-C0C9B7A4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48C714-6E09-4A1B-935A-FFF7B1FF6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C6B5E-62FB-4BD6-8423-B387D38B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C7B12-C846-48DB-A8B6-46DC756F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09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735C-3DC6-4EFE-BF5D-4DE9CBE3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34B65-9436-44FE-81A7-71EF1216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EE887-1999-46E4-842F-1603A38C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B09A9-CCF8-4128-BB04-7B231CF6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0F711-CCD3-4382-832F-F1B63AE8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11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A5045-FBF5-42E3-9E33-48A2471A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9C5A39-5C88-40FA-B78D-B2A58276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03F22-2C49-49E8-B73C-4F39CA03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5205BB-DE95-4F58-A64C-5EF418B6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FD51B-E37D-401A-8AFD-97BF81AA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9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63A6D-2ED6-41DA-A266-315ED163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5CF1E9-05DF-4887-A6BF-60A4366EF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EFB6D7-C34B-4D26-8536-A9FF1C458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B68CB3-9C9C-4BCF-8849-C7C1281F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F043B0-E0FC-4DFE-8346-60686674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08C841-C079-456C-A828-5154E4D5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33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42F29-5230-4DDE-9466-C8074705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436117-ADF3-4666-99C1-70F78427A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3CF00-6ACF-4F66-A1FD-4B1FB5B74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DD1F4C-FDFF-424B-83EA-1A33799FE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0A1E85-CB80-4004-AB17-F68AAEF55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4734C0-E0C1-4645-BDBB-641FE52D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30B399-5E9B-48D9-B88C-E0A11855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B6FE49-DA17-45C7-829A-29E74C8A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0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0DF4A-0AB2-479A-BA0B-4AEBDB26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41608E-621C-4A24-BC03-B2B55B81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FDD001-A618-411C-BBEA-265FF33E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C59127-736C-470C-9316-50BDAFD2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4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AF3805-A34A-48EE-9103-2E85ECA8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BD1162-B84F-48B5-9F2D-C8A5BA1F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CA1A6-508D-452C-9346-F42971E7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3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CD9E8-8C66-4F20-AF78-0D2104DD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243D0-68B6-485E-A0A1-6C6AE360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236142-C7F0-488A-A352-2E95BFDBE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B7458-7D6A-4CF5-9119-F885252B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97737A-E030-4D0A-9F08-438D9D3E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2CC09-1DFF-4AE8-9CBE-009111CA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5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CE0B4-F60F-4BE4-B736-D0E780AC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CEC66C-1A01-4A68-90B6-34779AB97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B6C80-02CA-494D-B183-FF7334E24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674DA5-8EDE-41DD-873F-D52B07C3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145A1B-9E10-4E48-8B6F-2A4B4B272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499919-CD68-465C-AE85-182F438C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11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5813F-6DC2-48B3-999C-9D8626D2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F1F9-286E-4C1A-A13B-D3539FC4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A245B0-A956-4C61-96A5-0F0C7D18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26EA5-CD34-4926-B5D6-63D27AE9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2D706-811F-463C-BB93-A495404A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64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CA3B66-2E4F-4893-B00F-42AD71599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99FB95-62FF-4F8F-8097-308294E4B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03751-E1FA-4759-AE99-0F618F1F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1100B-230E-4490-BC0A-9297B0D9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203695-DD2B-44ED-8F33-1E5254DE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4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B74A60-BB8C-4251-9C2D-BF860CCA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C858F0-D16C-4B40-A9BC-700E699E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55ED22-A716-4533-8B46-FC496A2E1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CEF51-89DD-457C-A7D0-C7891E099EE5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83DDB-D0A9-492D-B63E-18E806330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D66B3-5E5E-441C-A0BC-AADE36D59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D93B9-C249-4E48-8166-C35799B43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62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D76CD3E-12D8-473E-890E-DA544011C777}"/>
              </a:ext>
            </a:extLst>
          </p:cNvPr>
          <p:cNvSpPr/>
          <p:nvPr/>
        </p:nvSpPr>
        <p:spPr>
          <a:xfrm>
            <a:off x="2755866" y="3520442"/>
            <a:ext cx="612559" cy="6125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1E8401E-58E3-45B3-9032-B04D5379295E}"/>
              </a:ext>
            </a:extLst>
          </p:cNvPr>
          <p:cNvSpPr/>
          <p:nvPr/>
        </p:nvSpPr>
        <p:spPr>
          <a:xfrm>
            <a:off x="8335481" y="3520443"/>
            <a:ext cx="612559" cy="61255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F67D7B-F7C6-4151-9D5F-BA9E6B7DD3CA}"/>
              </a:ext>
            </a:extLst>
          </p:cNvPr>
          <p:cNvSpPr/>
          <p:nvPr/>
        </p:nvSpPr>
        <p:spPr>
          <a:xfrm>
            <a:off x="4149660" y="3520443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C13B2A-DFEC-453B-8702-308487606F26}"/>
              </a:ext>
            </a:extLst>
          </p:cNvPr>
          <p:cNvSpPr/>
          <p:nvPr/>
        </p:nvSpPr>
        <p:spPr>
          <a:xfrm>
            <a:off x="4890944" y="2384102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DFDF0-F3D9-4606-AFB6-84E8CB1EC028}"/>
              </a:ext>
            </a:extLst>
          </p:cNvPr>
          <p:cNvSpPr/>
          <p:nvPr/>
        </p:nvSpPr>
        <p:spPr>
          <a:xfrm>
            <a:off x="6104226" y="2384102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D495C8-EE17-48D2-B23A-79F5D0437135}"/>
              </a:ext>
            </a:extLst>
          </p:cNvPr>
          <p:cNvSpPr/>
          <p:nvPr/>
        </p:nvSpPr>
        <p:spPr>
          <a:xfrm>
            <a:off x="5560469" y="4603519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70D3A-5421-482F-943C-932520AD36A0}"/>
              </a:ext>
            </a:extLst>
          </p:cNvPr>
          <p:cNvSpPr/>
          <p:nvPr/>
        </p:nvSpPr>
        <p:spPr>
          <a:xfrm>
            <a:off x="7065973" y="3520443"/>
            <a:ext cx="612559" cy="6125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B432C1E-787E-452B-ACD4-74E561032903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3368425" y="3826722"/>
            <a:ext cx="78123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284F35E-F69B-49FF-998B-452AC0F80D0C}"/>
              </a:ext>
            </a:extLst>
          </p:cNvPr>
          <p:cNvCxnSpPr>
            <a:cxnSpLocks/>
            <a:stCxn id="10" idx="3"/>
            <a:endCxn id="5" idx="2"/>
          </p:cNvCxnSpPr>
          <p:nvPr/>
        </p:nvCxnSpPr>
        <p:spPr>
          <a:xfrm>
            <a:off x="7678532" y="3826723"/>
            <a:ext cx="6569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563EFE9-A6F1-42DC-85CD-AE908E5312CD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6173028" y="4133002"/>
            <a:ext cx="1199225" cy="776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84AD375-6AD3-4B91-84A9-C88B4A1ED60D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>
            <a:off x="4455940" y="4133002"/>
            <a:ext cx="1104529" cy="7767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8C68EF9-25DC-4F5B-91E0-8100A321C5FF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6716785" y="2690382"/>
            <a:ext cx="655468" cy="830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618A8A-B49F-4B86-9336-F677E7C2F864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flipV="1">
            <a:off x="4455940" y="2690382"/>
            <a:ext cx="435004" cy="830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895BEE4-40B8-4F0E-A6EF-F5CB59FEE03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503503" y="2690382"/>
            <a:ext cx="6007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6A84637-5E52-4E9D-9E4D-E1ABE9BEB0DA}"/>
              </a:ext>
            </a:extLst>
          </p:cNvPr>
          <p:cNvSpPr txBox="1"/>
          <p:nvPr/>
        </p:nvSpPr>
        <p:spPr>
          <a:xfrm>
            <a:off x="3308527" y="3580500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A01EB6B-1257-45DE-ABAF-324EF25AC185}"/>
              </a:ext>
            </a:extLst>
          </p:cNvPr>
          <p:cNvSpPr txBox="1"/>
          <p:nvPr/>
        </p:nvSpPr>
        <p:spPr>
          <a:xfrm>
            <a:off x="3806774" y="38267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141D11-D6A1-42E9-871A-18D3C1FA0B9C}"/>
              </a:ext>
            </a:extLst>
          </p:cNvPr>
          <p:cNvSpPr txBox="1"/>
          <p:nvPr/>
        </p:nvSpPr>
        <p:spPr>
          <a:xfrm>
            <a:off x="4149660" y="3244193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42AEE6B-3143-4061-86E4-19CFC52B26D0}"/>
              </a:ext>
            </a:extLst>
          </p:cNvPr>
          <p:cNvSpPr txBox="1"/>
          <p:nvPr/>
        </p:nvSpPr>
        <p:spPr>
          <a:xfrm>
            <a:off x="4270632" y="416303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eth3</a:t>
            </a:r>
            <a:endParaRPr lang="zh-CN" altLang="en-US" sz="1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CDF4A82-28C2-4F35-9D3C-9D294EED8C3F}"/>
              </a:ext>
            </a:extLst>
          </p:cNvPr>
          <p:cNvSpPr txBox="1"/>
          <p:nvPr/>
        </p:nvSpPr>
        <p:spPr>
          <a:xfrm>
            <a:off x="7617155" y="361053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8BFE330-5F9F-429C-B777-FBAC4F0EAE26}"/>
              </a:ext>
            </a:extLst>
          </p:cNvPr>
          <p:cNvSpPr txBox="1"/>
          <p:nvPr/>
        </p:nvSpPr>
        <p:spPr>
          <a:xfrm>
            <a:off x="8015553" y="3822280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5F3A4BE-6065-410D-8B2A-96D00DDC0997}"/>
              </a:ext>
            </a:extLst>
          </p:cNvPr>
          <p:cNvSpPr txBox="1"/>
          <p:nvPr/>
        </p:nvSpPr>
        <p:spPr>
          <a:xfrm>
            <a:off x="5197223" y="4816717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5AEE7D2-2CBD-4004-A564-E3F3F7538ADA}"/>
              </a:ext>
            </a:extLst>
          </p:cNvPr>
          <p:cNvSpPr txBox="1"/>
          <p:nvPr/>
        </p:nvSpPr>
        <p:spPr>
          <a:xfrm>
            <a:off x="6152667" y="4816716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92E653-0246-41C3-9DE2-F7AD2B4385A0}"/>
              </a:ext>
            </a:extLst>
          </p:cNvPr>
          <p:cNvSpPr txBox="1"/>
          <p:nvPr/>
        </p:nvSpPr>
        <p:spPr>
          <a:xfrm>
            <a:off x="7211384" y="327422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4CCD6BF-7E64-44C6-B6CA-E735CD98B335}"/>
              </a:ext>
            </a:extLst>
          </p:cNvPr>
          <p:cNvSpPr txBox="1"/>
          <p:nvPr/>
        </p:nvSpPr>
        <p:spPr>
          <a:xfrm>
            <a:off x="7158091" y="416303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eth3</a:t>
            </a:r>
            <a:endParaRPr lang="zh-CN" altLang="en-US" sz="1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6F5C5F-57B2-42A1-A79B-CAD11B7A8A3C}"/>
              </a:ext>
            </a:extLst>
          </p:cNvPr>
          <p:cNvSpPr txBox="1"/>
          <p:nvPr/>
        </p:nvSpPr>
        <p:spPr>
          <a:xfrm>
            <a:off x="4540275" y="252301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E068DD-EB99-4B24-8E87-2B76A5F32B40}"/>
              </a:ext>
            </a:extLst>
          </p:cNvPr>
          <p:cNvSpPr txBox="1"/>
          <p:nvPr/>
        </p:nvSpPr>
        <p:spPr>
          <a:xfrm>
            <a:off x="5770956" y="266395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eth1</a:t>
            </a:r>
            <a:endParaRPr lang="zh-CN" altLang="en-US" sz="10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947971B-97EE-4FDB-A637-1CDF12928F90}"/>
              </a:ext>
            </a:extLst>
          </p:cNvPr>
          <p:cNvSpPr txBox="1"/>
          <p:nvPr/>
        </p:nvSpPr>
        <p:spPr>
          <a:xfrm>
            <a:off x="5442482" y="245963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66AEF78-914B-4033-BC41-F9C46ABF3E90}"/>
              </a:ext>
            </a:extLst>
          </p:cNvPr>
          <p:cNvSpPr txBox="1"/>
          <p:nvPr/>
        </p:nvSpPr>
        <p:spPr>
          <a:xfrm>
            <a:off x="6655764" y="2537244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eth2</a:t>
            </a:r>
            <a:endParaRPr lang="zh-CN" altLang="en-US" sz="1000" dirty="0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3FEC5470-B10E-4654-881B-C06D46D6EC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Our Topology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58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5D7B9DB-D782-4A78-9809-2B2A5FE1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Source Routing Forwarding</a:t>
            </a:r>
            <a:endParaRPr lang="zh-CN" altLang="en-US" sz="4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CFB5CE-D55E-4E83-A2D5-24189D897D09}"/>
              </a:ext>
            </a:extLst>
          </p:cNvPr>
          <p:cNvSpPr txBox="1"/>
          <p:nvPr/>
        </p:nvSpPr>
        <p:spPr>
          <a:xfrm>
            <a:off x="5971180" y="2013358"/>
            <a:ext cx="45570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Our work (source routing):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OpenFlow 1.3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Repurpose </a:t>
            </a:r>
            <a:r>
              <a:rPr lang="en-US" altLang="zh-CN" sz="2000" dirty="0" err="1"/>
              <a:t>vlan</a:t>
            </a:r>
            <a:r>
              <a:rPr lang="en-US" altLang="zh-CN" sz="2000" dirty="0"/>
              <a:t> tag in </a:t>
            </a:r>
            <a:r>
              <a:rPr lang="en-US" altLang="zh-CN" sz="20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802.1Q headers to store path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Hosts know the whole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Hosts build path in pkt headers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Switches forward pkts following path in their headers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47512B-A4D3-49D2-A408-0030233C7E42}"/>
              </a:ext>
            </a:extLst>
          </p:cNvPr>
          <p:cNvSpPr txBox="1"/>
          <p:nvPr/>
        </p:nvSpPr>
        <p:spPr>
          <a:xfrm>
            <a:off x="1113762" y="2013358"/>
            <a:ext cx="38860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Traditional forwarding: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Distributed routing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Switches forward pkts by looking up table (IP - port)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4855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93CE068-BA2F-4275-9187-CBD60118EB9F}"/>
              </a:ext>
            </a:extLst>
          </p:cNvPr>
          <p:cNvSpPr/>
          <p:nvPr/>
        </p:nvSpPr>
        <p:spPr>
          <a:xfrm>
            <a:off x="2083913" y="3087149"/>
            <a:ext cx="4379476" cy="2563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Ethernet:  </a:t>
            </a:r>
            <a:r>
              <a:rPr lang="en-US" altLang="zh-CN" sz="1400" dirty="0" err="1">
                <a:solidFill>
                  <a:schemeClr val="tx1"/>
                </a:solidFill>
              </a:rPr>
              <a:t>dst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xx:xx:xx:xx:xx:xx</a:t>
            </a:r>
            <a:r>
              <a:rPr lang="en-US" altLang="zh-CN" sz="1400" dirty="0">
                <a:solidFill>
                  <a:schemeClr val="tx1"/>
                </a:solidFill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</a:rPr>
              <a:t>src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xx:xx:xx:xx:xx:xx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3B3691-3149-4FA8-85C3-26FA04A04618}"/>
              </a:ext>
            </a:extLst>
          </p:cNvPr>
          <p:cNvSpPr/>
          <p:nvPr/>
        </p:nvSpPr>
        <p:spPr>
          <a:xfrm>
            <a:off x="2541862" y="3397252"/>
            <a:ext cx="3921525" cy="2563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out_port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0BF8DD-5EB5-4FBD-95C9-22091E469356}"/>
              </a:ext>
            </a:extLst>
          </p:cNvPr>
          <p:cNvSpPr/>
          <p:nvPr/>
        </p:nvSpPr>
        <p:spPr>
          <a:xfrm>
            <a:off x="2541862" y="3703514"/>
            <a:ext cx="3921525" cy="256389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...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E2BCAE-477F-47CC-9E5D-F7937D841C19}"/>
              </a:ext>
            </a:extLst>
          </p:cNvPr>
          <p:cNvSpPr/>
          <p:nvPr/>
        </p:nvSpPr>
        <p:spPr>
          <a:xfrm>
            <a:off x="2541862" y="4017929"/>
            <a:ext cx="3921525" cy="2563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out_port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1375EC-0DF3-4388-BDDE-5B3DAC7D5C26}"/>
              </a:ext>
            </a:extLst>
          </p:cNvPr>
          <p:cNvSpPr/>
          <p:nvPr/>
        </p:nvSpPr>
        <p:spPr>
          <a:xfrm>
            <a:off x="3074271" y="4320257"/>
            <a:ext cx="3389117" cy="2563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IPV4:  </a:t>
            </a:r>
            <a:r>
              <a:rPr lang="en-US" altLang="zh-CN" sz="1400" dirty="0" err="1">
                <a:solidFill>
                  <a:schemeClr val="tx1"/>
                </a:solidFill>
              </a:rPr>
              <a:t>dst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dst_ip</a:t>
            </a:r>
            <a:r>
              <a:rPr lang="en-US" altLang="zh-CN" sz="1400" dirty="0">
                <a:solidFill>
                  <a:schemeClr val="tx1"/>
                </a:solidFill>
              </a:rPr>
              <a:t>  </a:t>
            </a:r>
            <a:r>
              <a:rPr lang="en-US" altLang="zh-CN" sz="1400" dirty="0" err="1">
                <a:solidFill>
                  <a:schemeClr val="tx1"/>
                </a:solidFill>
              </a:rPr>
              <a:t>src</a:t>
            </a:r>
            <a:r>
              <a:rPr lang="en-US" altLang="zh-CN" sz="1400" dirty="0">
                <a:solidFill>
                  <a:schemeClr val="tx1"/>
                </a:solidFill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</a:rPr>
              <a:t>src_ip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B08FF3-1CAD-4BA0-97A8-C44A48AA4C8F}"/>
              </a:ext>
            </a:extLst>
          </p:cNvPr>
          <p:cNvSpPr/>
          <p:nvPr/>
        </p:nvSpPr>
        <p:spPr>
          <a:xfrm>
            <a:off x="3658206" y="4630360"/>
            <a:ext cx="2805182" cy="2563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ICMP:  id=xxx  seq=</a:t>
            </a:r>
            <a:r>
              <a:rPr lang="en-US" altLang="zh-CN" sz="1400" dirty="0" err="1">
                <a:solidFill>
                  <a:schemeClr val="tx1"/>
                </a:solidFill>
              </a:rPr>
              <a:t>seq_num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0865BB-8E23-4173-B574-DC123624A566}"/>
              </a:ext>
            </a:extLst>
          </p:cNvPr>
          <p:cNvSpPr/>
          <p:nvPr/>
        </p:nvSpPr>
        <p:spPr>
          <a:xfrm>
            <a:off x="4205116" y="4935267"/>
            <a:ext cx="2260157" cy="2563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Payload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223318-4DA4-4AA6-B67F-CAEBB24FB7EB}"/>
              </a:ext>
            </a:extLst>
          </p:cNvPr>
          <p:cNvSpPr txBox="1"/>
          <p:nvPr/>
        </p:nvSpPr>
        <p:spPr>
          <a:xfrm>
            <a:off x="3135358" y="223361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ICMP packet headers</a:t>
            </a:r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866D761F-6F51-4DE3-BBE1-7983F1F4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Source Routing Header</a:t>
            </a:r>
            <a:endParaRPr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23B84E-C1E3-4428-81A7-3C1D4E1B63C1}"/>
              </a:ext>
            </a:extLst>
          </p:cNvPr>
          <p:cNvSpPr txBox="1"/>
          <p:nvPr/>
        </p:nvSpPr>
        <p:spPr>
          <a:xfrm>
            <a:off x="6876442" y="3055589"/>
            <a:ext cx="33425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MAC address: not important</a:t>
            </a:r>
          </a:p>
          <a:p>
            <a:endParaRPr lang="en-US" altLang="zh-CN" dirty="0"/>
          </a:p>
          <a:p>
            <a:r>
              <a:rPr lang="en-US" altLang="zh-CN" dirty="0"/>
              <a:t>Multiple nested </a:t>
            </a:r>
            <a:r>
              <a:rPr lang="en-US" altLang="zh-CN" sz="1800" dirty="0">
                <a:solidFill>
                  <a:schemeClr val="tx1"/>
                </a:solidFill>
              </a:rPr>
              <a:t>802.1Q headers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Normal ICMP header structure</a:t>
            </a:r>
          </a:p>
        </p:txBody>
      </p:sp>
    </p:spTree>
    <p:extLst>
      <p:ext uri="{BB962C8B-B14F-4D97-AF65-F5344CB8AC3E}">
        <p14:creationId xmlns:p14="http://schemas.microsoft.com/office/powerpoint/2010/main" val="296744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A3C835-2CC2-4E46-A823-40B9699139A6}"/>
              </a:ext>
            </a:extLst>
          </p:cNvPr>
          <p:cNvSpPr txBox="1"/>
          <p:nvPr/>
        </p:nvSpPr>
        <p:spPr>
          <a:xfrm>
            <a:off x="3246538" y="2024195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s1 flow table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50CDE5-DE7C-4113-AE6E-BBB5B0E73E85}"/>
              </a:ext>
            </a:extLst>
          </p:cNvPr>
          <p:cNvSpPr txBox="1"/>
          <p:nvPr/>
        </p:nvSpPr>
        <p:spPr>
          <a:xfrm>
            <a:off x="1734281" y="2828946"/>
            <a:ext cx="47000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..., table=0,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n_packets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n_bytes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priority=2000, </a:t>
            </a:r>
          </a:p>
          <a:p>
            <a:r>
              <a:rPr lang="en-US" altLang="zh-CN" sz="1600" b="1" dirty="0" err="1"/>
              <a:t>dl_vlan</a:t>
            </a:r>
            <a:r>
              <a:rPr lang="en-US" altLang="zh-CN" sz="1600" b="1" dirty="0"/>
              <a:t>=1 actions=pop_vlan,output:"s1-eth1“</a:t>
            </a:r>
          </a:p>
          <a:p>
            <a:endParaRPr lang="en-US" altLang="zh-CN" sz="1600" b="1" dirty="0"/>
          </a:p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..., table=0,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n_packets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n_bytes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priority=2000, </a:t>
            </a:r>
          </a:p>
          <a:p>
            <a:r>
              <a:rPr lang="en-US" altLang="zh-CN" sz="1600" b="1" dirty="0" err="1"/>
              <a:t>dl_vlan</a:t>
            </a:r>
            <a:r>
              <a:rPr lang="en-US" altLang="zh-CN" sz="1600" b="1" dirty="0"/>
              <a:t>=2 actions=pop_vlan,output:"s1-eth2“</a:t>
            </a:r>
          </a:p>
          <a:p>
            <a:endParaRPr lang="en-US" altLang="zh-CN" sz="1600" b="1" dirty="0"/>
          </a:p>
          <a:p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..., table=0,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n_packets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n_bytes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=0, priority=2000, </a:t>
            </a:r>
          </a:p>
          <a:p>
            <a:r>
              <a:rPr lang="en-US" altLang="zh-CN" sz="1600" b="1" dirty="0" err="1"/>
              <a:t>dl_vlan</a:t>
            </a:r>
            <a:r>
              <a:rPr lang="en-US" altLang="zh-CN" sz="1600" b="1" dirty="0"/>
              <a:t>=3 actions=pop_vlan,output:"s1-eth3"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76E328E-6306-4566-8E1B-1292017A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Flow Entries</a:t>
            </a:r>
            <a:endParaRPr lang="zh-CN" altLang="en-US" sz="4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E0644E-2415-4188-9684-81693040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143" y="2636807"/>
            <a:ext cx="4323606" cy="214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2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7F4AA67-2933-46DF-85DF-7F20F61E8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24" y="920791"/>
            <a:ext cx="5729274" cy="28369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09AA2C1-815C-4BDE-95DC-A199E0414B41}"/>
              </a:ext>
            </a:extLst>
          </p:cNvPr>
          <p:cNvSpPr txBox="1"/>
          <p:nvPr/>
        </p:nvSpPr>
        <p:spPr>
          <a:xfrm>
            <a:off x="7741248" y="837894"/>
            <a:ext cx="3918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h1 ping h2</a:t>
            </a:r>
          </a:p>
          <a:p>
            <a:r>
              <a:rPr lang="en-US" altLang="zh-CN" dirty="0"/>
              <a:t>Path: h1 - s1-s5-s4 - h2</a:t>
            </a:r>
          </a:p>
          <a:p>
            <a:r>
              <a:rPr lang="en-US" altLang="zh-CN" b="1" dirty="0"/>
              <a:t>Out ports: </a:t>
            </a:r>
            <a:r>
              <a:rPr lang="en-US" altLang="zh-CN" dirty="0"/>
              <a:t>eth3-eth2-eth1 = </a:t>
            </a:r>
            <a:r>
              <a:rPr lang="en-US" altLang="zh-CN" b="1" dirty="0"/>
              <a:t>[3, 2, 1]</a:t>
            </a:r>
            <a:endParaRPr lang="zh-CN" altLang="en-US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7C580D-5939-4B19-8289-96C5E069F530}"/>
              </a:ext>
            </a:extLst>
          </p:cNvPr>
          <p:cNvCxnSpPr>
            <a:cxnSpLocks/>
          </p:cNvCxnSpPr>
          <p:nvPr/>
        </p:nvCxnSpPr>
        <p:spPr>
          <a:xfrm flipH="1">
            <a:off x="2382530" y="2653710"/>
            <a:ext cx="754953" cy="11096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F2AC11-142E-40E3-8804-C6B46065D5FF}"/>
              </a:ext>
            </a:extLst>
          </p:cNvPr>
          <p:cNvCxnSpPr>
            <a:cxnSpLocks/>
          </p:cNvCxnSpPr>
          <p:nvPr/>
        </p:nvCxnSpPr>
        <p:spPr>
          <a:xfrm flipH="1">
            <a:off x="4467825" y="3112919"/>
            <a:ext cx="536227" cy="6959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1C91541-71F8-4278-ABE8-F3A0BCD85B2E}"/>
              </a:ext>
            </a:extLst>
          </p:cNvPr>
          <p:cNvCxnSpPr>
            <a:cxnSpLocks/>
          </p:cNvCxnSpPr>
          <p:nvPr/>
        </p:nvCxnSpPr>
        <p:spPr>
          <a:xfrm>
            <a:off x="6580731" y="3016757"/>
            <a:ext cx="415862" cy="7920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557CB3B-2ABA-4964-A966-2D210A964BBF}"/>
              </a:ext>
            </a:extLst>
          </p:cNvPr>
          <p:cNvCxnSpPr>
            <a:cxnSpLocks/>
          </p:cNvCxnSpPr>
          <p:nvPr/>
        </p:nvCxnSpPr>
        <p:spPr>
          <a:xfrm>
            <a:off x="8196044" y="2653710"/>
            <a:ext cx="704675" cy="11039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8E9B3D0-26EC-4C8C-87D1-E4F0F405D29E}"/>
              </a:ext>
            </a:extLst>
          </p:cNvPr>
          <p:cNvCxnSpPr>
            <a:cxnSpLocks/>
          </p:cNvCxnSpPr>
          <p:nvPr/>
        </p:nvCxnSpPr>
        <p:spPr>
          <a:xfrm>
            <a:off x="3523379" y="2339242"/>
            <a:ext cx="6580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0244BCB-06C2-49CD-98FB-AFAEF23F1472}"/>
              </a:ext>
            </a:extLst>
          </p:cNvPr>
          <p:cNvCxnSpPr>
            <a:cxnSpLocks/>
          </p:cNvCxnSpPr>
          <p:nvPr/>
        </p:nvCxnSpPr>
        <p:spPr>
          <a:xfrm>
            <a:off x="4467825" y="2653710"/>
            <a:ext cx="950967" cy="646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FABB1F0-0795-4549-A880-8DDD017BFBBB}"/>
              </a:ext>
            </a:extLst>
          </p:cNvPr>
          <p:cNvCxnSpPr>
            <a:cxnSpLocks/>
          </p:cNvCxnSpPr>
          <p:nvPr/>
        </p:nvCxnSpPr>
        <p:spPr>
          <a:xfrm flipV="1">
            <a:off x="5998997" y="2653710"/>
            <a:ext cx="997596" cy="655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055EAB42-6F63-4A2A-810A-F08E0E7727B5}"/>
              </a:ext>
            </a:extLst>
          </p:cNvPr>
          <p:cNvCxnSpPr>
            <a:cxnSpLocks/>
          </p:cNvCxnSpPr>
          <p:nvPr/>
        </p:nvCxnSpPr>
        <p:spPr>
          <a:xfrm>
            <a:off x="7348756" y="2347741"/>
            <a:ext cx="5655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55821AA-A715-44C0-BEE0-49B8E0B13F89}"/>
              </a:ext>
            </a:extLst>
          </p:cNvPr>
          <p:cNvSpPr/>
          <p:nvPr/>
        </p:nvSpPr>
        <p:spPr>
          <a:xfrm>
            <a:off x="1075577" y="3921913"/>
            <a:ext cx="1893099" cy="2488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Ethernet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9DB062-7927-4234-85CC-D2590F08A602}"/>
              </a:ext>
            </a:extLst>
          </p:cNvPr>
          <p:cNvSpPr/>
          <p:nvPr/>
        </p:nvSpPr>
        <p:spPr>
          <a:xfrm>
            <a:off x="1273534" y="4232016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3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945685-F362-44A6-83DE-050FF1C8F40F}"/>
              </a:ext>
            </a:extLst>
          </p:cNvPr>
          <p:cNvSpPr/>
          <p:nvPr/>
        </p:nvSpPr>
        <p:spPr>
          <a:xfrm>
            <a:off x="1273534" y="4538278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B5827E-2031-4D8E-9727-C06F8EDB215D}"/>
              </a:ext>
            </a:extLst>
          </p:cNvPr>
          <p:cNvSpPr/>
          <p:nvPr/>
        </p:nvSpPr>
        <p:spPr>
          <a:xfrm>
            <a:off x="1273534" y="4852693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F40BE6-AFCD-404B-A262-CC4C38E2BFB3}"/>
              </a:ext>
            </a:extLst>
          </p:cNvPr>
          <p:cNvSpPr/>
          <p:nvPr/>
        </p:nvSpPr>
        <p:spPr>
          <a:xfrm>
            <a:off x="1503676" y="5155021"/>
            <a:ext cx="1465000" cy="2488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IPV4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5008D3-AFEC-434B-8F1A-B11B0739FE94}"/>
              </a:ext>
            </a:extLst>
          </p:cNvPr>
          <p:cNvSpPr/>
          <p:nvPr/>
        </p:nvSpPr>
        <p:spPr>
          <a:xfrm>
            <a:off x="1756090" y="5465124"/>
            <a:ext cx="1212586" cy="2488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ICMP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946B8C-E630-4962-8FBA-307392B43005}"/>
              </a:ext>
            </a:extLst>
          </p:cNvPr>
          <p:cNvSpPr/>
          <p:nvPr/>
        </p:nvSpPr>
        <p:spPr>
          <a:xfrm>
            <a:off x="1993571" y="5770031"/>
            <a:ext cx="976989" cy="2488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Payload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7A089B-E044-4302-9E6B-D5204C6D9302}"/>
              </a:ext>
            </a:extLst>
          </p:cNvPr>
          <p:cNvSpPr/>
          <p:nvPr/>
        </p:nvSpPr>
        <p:spPr>
          <a:xfrm>
            <a:off x="3338561" y="3921913"/>
            <a:ext cx="1893099" cy="2488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Ethernet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C56900-09D7-4350-856C-40B062EBF761}"/>
              </a:ext>
            </a:extLst>
          </p:cNvPr>
          <p:cNvSpPr/>
          <p:nvPr/>
        </p:nvSpPr>
        <p:spPr>
          <a:xfrm>
            <a:off x="3537099" y="4228590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2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758048-3C44-4441-8661-1D8C7B0369B4}"/>
              </a:ext>
            </a:extLst>
          </p:cNvPr>
          <p:cNvSpPr/>
          <p:nvPr/>
        </p:nvSpPr>
        <p:spPr>
          <a:xfrm>
            <a:off x="3537099" y="4543005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77C6A0-8418-4648-9A02-8FAF8E3DC725}"/>
              </a:ext>
            </a:extLst>
          </p:cNvPr>
          <p:cNvSpPr/>
          <p:nvPr/>
        </p:nvSpPr>
        <p:spPr>
          <a:xfrm>
            <a:off x="3767241" y="4845333"/>
            <a:ext cx="1465000" cy="2488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IPV4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D3116D-753B-43F4-B2A2-3C6AF0A7C460}"/>
              </a:ext>
            </a:extLst>
          </p:cNvPr>
          <p:cNvSpPr/>
          <p:nvPr/>
        </p:nvSpPr>
        <p:spPr>
          <a:xfrm>
            <a:off x="4019655" y="5155436"/>
            <a:ext cx="1212586" cy="2488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ICMP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F60AA2-D937-4A6D-821E-257654A62D2F}"/>
              </a:ext>
            </a:extLst>
          </p:cNvPr>
          <p:cNvSpPr/>
          <p:nvPr/>
        </p:nvSpPr>
        <p:spPr>
          <a:xfrm>
            <a:off x="4257136" y="5460343"/>
            <a:ext cx="976989" cy="2488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Payload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7D0500E-29CC-4722-9899-4A33A2DFCD04}"/>
              </a:ext>
            </a:extLst>
          </p:cNvPr>
          <p:cNvSpPr/>
          <p:nvPr/>
        </p:nvSpPr>
        <p:spPr>
          <a:xfrm>
            <a:off x="6030225" y="3921913"/>
            <a:ext cx="1893099" cy="2488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Ethernet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4755D2-A9DC-4254-BC90-84151AAA02C2}"/>
              </a:ext>
            </a:extLst>
          </p:cNvPr>
          <p:cNvSpPr/>
          <p:nvPr/>
        </p:nvSpPr>
        <p:spPr>
          <a:xfrm>
            <a:off x="6228763" y="4232612"/>
            <a:ext cx="1695142" cy="248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802.1Q: </a:t>
            </a:r>
            <a:r>
              <a:rPr lang="en-US" altLang="zh-CN" sz="1400" dirty="0" err="1">
                <a:solidFill>
                  <a:schemeClr val="tx1"/>
                </a:solidFill>
              </a:rPr>
              <a:t>vlan</a:t>
            </a:r>
            <a:r>
              <a:rPr lang="en-US" altLang="zh-CN" sz="1400" dirty="0">
                <a:solidFill>
                  <a:schemeClr val="tx1"/>
                </a:solidFill>
              </a:rPr>
              <a:t> = 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0D87158-610D-46A7-9896-2FCA1460692B}"/>
              </a:ext>
            </a:extLst>
          </p:cNvPr>
          <p:cNvSpPr/>
          <p:nvPr/>
        </p:nvSpPr>
        <p:spPr>
          <a:xfrm>
            <a:off x="6458905" y="4534940"/>
            <a:ext cx="1465000" cy="2488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IPV4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9D35CA-B77E-45A0-9245-3ECE9BF8C9DE}"/>
              </a:ext>
            </a:extLst>
          </p:cNvPr>
          <p:cNvSpPr/>
          <p:nvPr/>
        </p:nvSpPr>
        <p:spPr>
          <a:xfrm>
            <a:off x="6711319" y="4845043"/>
            <a:ext cx="1212586" cy="2488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ICMP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8F9AC8B-69E8-432B-88FB-5EE5A6C47CF5}"/>
              </a:ext>
            </a:extLst>
          </p:cNvPr>
          <p:cNvSpPr/>
          <p:nvPr/>
        </p:nvSpPr>
        <p:spPr>
          <a:xfrm>
            <a:off x="6948800" y="5149950"/>
            <a:ext cx="976989" cy="2488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Payload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052735-0552-43AE-AB97-CB2BA95BCE8A}"/>
              </a:ext>
            </a:extLst>
          </p:cNvPr>
          <p:cNvSpPr/>
          <p:nvPr/>
        </p:nvSpPr>
        <p:spPr>
          <a:xfrm>
            <a:off x="8293209" y="3921913"/>
            <a:ext cx="1893099" cy="2488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Ethernet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87A487-E5FA-4CDA-BB57-E609645B0A86}"/>
              </a:ext>
            </a:extLst>
          </p:cNvPr>
          <p:cNvSpPr/>
          <p:nvPr/>
        </p:nvSpPr>
        <p:spPr>
          <a:xfrm>
            <a:off x="8721889" y="4241325"/>
            <a:ext cx="1465000" cy="2488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IPV4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DEC7DFB-3E1B-4662-BFE8-123D807A32BF}"/>
              </a:ext>
            </a:extLst>
          </p:cNvPr>
          <p:cNvSpPr/>
          <p:nvPr/>
        </p:nvSpPr>
        <p:spPr>
          <a:xfrm>
            <a:off x="8974303" y="4551428"/>
            <a:ext cx="1212586" cy="2488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ICMP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ADB8EDC-F397-472B-83E2-0BB68E8075F0}"/>
              </a:ext>
            </a:extLst>
          </p:cNvPr>
          <p:cNvSpPr/>
          <p:nvPr/>
        </p:nvSpPr>
        <p:spPr>
          <a:xfrm>
            <a:off x="9211784" y="4856335"/>
            <a:ext cx="976989" cy="2488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tx1"/>
                </a:solidFill>
              </a:rPr>
              <a:t>Payload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09505FD8-EB6D-479A-8051-C16A1A21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Example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99519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BAEFE27-573C-4FAE-8D59-FAB4D36E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AI Utilization</a:t>
            </a:r>
            <a:endParaRPr lang="zh-CN" altLang="en-US" sz="4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453D84-B45C-4774-9F67-85474829C974}"/>
              </a:ext>
            </a:extLst>
          </p:cNvPr>
          <p:cNvSpPr txBox="1"/>
          <p:nvPr/>
        </p:nvSpPr>
        <p:spPr>
          <a:xfrm>
            <a:off x="1113762" y="2013358"/>
            <a:ext cx="7065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Generate code template: Claude, Gemini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Code testing and debugging: Claude, Gemini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GUI Generation and Connection: Claude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066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宽屏</PresentationFormat>
  <Paragraphs>87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Source Routing Forwarding</vt:lpstr>
      <vt:lpstr>Source Routing Header</vt:lpstr>
      <vt:lpstr>Flow Entries</vt:lpstr>
      <vt:lpstr>Example</vt:lpstr>
      <vt:lpstr>AI Utilization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Yuhe Lin</dc:creator>
  <cp:lastModifiedBy>Yuhe Lin</cp:lastModifiedBy>
  <cp:revision>41</cp:revision>
  <dcterms:created xsi:type="dcterms:W3CDTF">2026-06-26T04:24:39Z</dcterms:created>
  <dcterms:modified xsi:type="dcterms:W3CDTF">2026-07-14T09:16:46Z</dcterms:modified>
</cp:coreProperties>
</file>